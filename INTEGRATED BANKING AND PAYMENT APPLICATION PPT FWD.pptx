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6"/>
  </p:notesMasterIdLst>
  <p:handoutMasterIdLst>
    <p:handoutMasterId r:id="rId17"/>
  </p:handoutMasterIdLst>
  <p:sldIdLst>
    <p:sldId id="314" r:id="rId3"/>
    <p:sldId id="323" r:id="rId4"/>
    <p:sldId id="266" r:id="rId5"/>
    <p:sldId id="341" r:id="rId6"/>
    <p:sldId id="342" r:id="rId7"/>
    <p:sldId id="343" r:id="rId8"/>
    <p:sldId id="344" r:id="rId9"/>
    <p:sldId id="345" r:id="rId10"/>
    <p:sldId id="340" r:id="rId11"/>
    <p:sldId id="349" r:id="rId12"/>
    <p:sldId id="347" r:id="rId13"/>
    <p:sldId id="348" r:id="rId14"/>
    <p:sldId id="33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82"/>
    <p:restoredTop sz="95833"/>
  </p:normalViewPr>
  <p:slideViewPr>
    <p:cSldViewPr snapToGrid="0" snapToObjects="1">
      <p:cViewPr varScale="1">
        <p:scale>
          <a:sx n="82" d="100"/>
          <a:sy n="82" d="100"/>
        </p:scale>
        <p:origin x="509" y="58"/>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kki pravalika" userId="1d41a8df63cde13c" providerId="LiveId" clId="{95B26111-BEBC-4661-91EB-1F52116B2ACE}"/>
    <pc:docChg chg="custSel modSld">
      <pc:chgData name="rikki pravalika" userId="1d41a8df63cde13c" providerId="LiveId" clId="{95B26111-BEBC-4661-91EB-1F52116B2ACE}" dt="2026-03-10T03:18:13.036" v="30" actId="21"/>
      <pc:docMkLst>
        <pc:docMk/>
      </pc:docMkLst>
      <pc:sldChg chg="modSp mod">
        <pc:chgData name="rikki pravalika" userId="1d41a8df63cde13c" providerId="LiveId" clId="{95B26111-BEBC-4661-91EB-1F52116B2ACE}" dt="2026-03-10T03:13:59.439" v="21" actId="20577"/>
        <pc:sldMkLst>
          <pc:docMk/>
          <pc:sldMk cId="1017016331" sldId="314"/>
        </pc:sldMkLst>
        <pc:spChg chg="mod">
          <ac:chgData name="rikki pravalika" userId="1d41a8df63cde13c" providerId="LiveId" clId="{95B26111-BEBC-4661-91EB-1F52116B2ACE}" dt="2026-03-10T03:13:59.439" v="21" actId="20577"/>
          <ac:spMkLst>
            <pc:docMk/>
            <pc:sldMk cId="1017016331" sldId="314"/>
            <ac:spMk id="3" creationId="{7AEAE0CE-45A1-A1FF-31F4-66CECAEF3059}"/>
          </ac:spMkLst>
        </pc:spChg>
        <pc:spChg chg="mod">
          <ac:chgData name="rikki pravalika" userId="1d41a8df63cde13c" providerId="LiveId" clId="{95B26111-BEBC-4661-91EB-1F52116B2ACE}" dt="2026-03-10T03:12:40.086" v="19" actId="20577"/>
          <ac:spMkLst>
            <pc:docMk/>
            <pc:sldMk cId="1017016331" sldId="314"/>
            <ac:spMk id="13" creationId="{3F9DE7D0-41AC-90DD-3065-235240261B1B}"/>
          </ac:spMkLst>
        </pc:spChg>
      </pc:sldChg>
      <pc:sldChg chg="modSp mod">
        <pc:chgData name="rikki pravalika" userId="1d41a8df63cde13c" providerId="LiveId" clId="{95B26111-BEBC-4661-91EB-1F52116B2ACE}" dt="2026-03-10T02:58:44.452" v="4" actId="20577"/>
        <pc:sldMkLst>
          <pc:docMk/>
          <pc:sldMk cId="3431953712" sldId="340"/>
        </pc:sldMkLst>
        <pc:spChg chg="mod">
          <ac:chgData name="rikki pravalika" userId="1d41a8df63cde13c" providerId="LiveId" clId="{95B26111-BEBC-4661-91EB-1F52116B2ACE}" dt="2026-03-10T02:58:44.452" v="4" actId="20577"/>
          <ac:spMkLst>
            <pc:docMk/>
            <pc:sldMk cId="3431953712" sldId="340"/>
            <ac:spMk id="2" creationId="{37323D68-D41B-9825-3931-B79590C795F8}"/>
          </ac:spMkLst>
        </pc:spChg>
      </pc:sldChg>
      <pc:sldChg chg="delSp modSp mod">
        <pc:chgData name="rikki pravalika" userId="1d41a8df63cde13c" providerId="LiveId" clId="{95B26111-BEBC-4661-91EB-1F52116B2ACE}" dt="2026-03-10T03:18:13.036" v="30" actId="21"/>
        <pc:sldMkLst>
          <pc:docMk/>
          <pc:sldMk cId="1906946512" sldId="345"/>
        </pc:sldMkLst>
        <pc:spChg chg="del mod">
          <ac:chgData name="rikki pravalika" userId="1d41a8df63cde13c" providerId="LiveId" clId="{95B26111-BEBC-4661-91EB-1F52116B2ACE}" dt="2026-03-10T03:18:13.036" v="30" actId="21"/>
          <ac:spMkLst>
            <pc:docMk/>
            <pc:sldMk cId="1906946512" sldId="345"/>
            <ac:spMk id="5" creationId="{49D0E4ED-DE37-6D8E-7EB1-1F0F05E37DA3}"/>
          </ac:spMkLst>
        </pc:spChg>
        <pc:spChg chg="mod">
          <ac:chgData name="rikki pravalika" userId="1d41a8df63cde13c" providerId="LiveId" clId="{95B26111-BEBC-4661-91EB-1F52116B2ACE}" dt="2026-03-10T03:17:50.234" v="28" actId="14100"/>
          <ac:spMkLst>
            <pc:docMk/>
            <pc:sldMk cId="1906946512" sldId="345"/>
            <ac:spMk id="9" creationId="{8769557B-A6AB-F48D-9A16-51F755A17BB7}"/>
          </ac:spMkLst>
        </pc:sp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3/10/2026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10-03-2026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10-03-2026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10-03-2026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10-03-2026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10-03-2026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10-03-2026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10-03-2026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10-03-2026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10-03-2026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10-03-2026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10-03-2026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10-03-2026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10-03-2026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10-03-2026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10-03-2026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10-03-2026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10-03-2026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1791942" y="141529"/>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R .Pravalika</a:t>
            </a:r>
          </a:p>
          <a:p>
            <a:pPr marL="0" indent="0" algn="ctr">
              <a:buNone/>
            </a:pPr>
            <a:r>
              <a:rPr lang="en-US" sz="9600" dirty="0"/>
              <a:t>Student ID: 2520030402</a:t>
            </a:r>
            <a:r>
              <a:rPr lang="en-US" sz="2400" dirty="0"/>
              <a:t>)</a:t>
            </a:r>
          </a:p>
          <a:p>
            <a:pPr marL="0" indent="0" algn="ctr">
              <a:buNone/>
            </a:pPr>
            <a:r>
              <a:rPr lang="en-US" sz="11200" dirty="0"/>
              <a:t>Cluster:2</a:t>
            </a:r>
          </a:p>
          <a:p>
            <a:pPr marL="0" indent="0" algn="ctr">
              <a:buNone/>
            </a:pPr>
            <a:r>
              <a:rPr lang="en-US" sz="11200" dirty="0"/>
              <a:t>Section: 7</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10-03-2026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356361" y="5276247"/>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Pavithra</a:t>
            </a: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1</a:t>
            </a:fld>
            <a:endParaRPr lang="en-US"/>
          </a:p>
        </p:txBody>
      </p:sp>
      <p:sp>
        <p:nvSpPr>
          <p:cNvPr id="4" name="TextBox 3">
            <a:extLst>
              <a:ext uri="{FF2B5EF4-FFF2-40B4-BE49-F238E27FC236}">
                <a16:creationId xmlns:a16="http://schemas.microsoft.com/office/drawing/2014/main" id="{CF47FCDD-C33A-C2E8-0C55-5107E298C0DA}"/>
              </a:ext>
            </a:extLst>
          </p:cNvPr>
          <p:cNvSpPr txBox="1"/>
          <p:nvPr/>
        </p:nvSpPr>
        <p:spPr>
          <a:xfrm>
            <a:off x="4394200" y="540386"/>
            <a:ext cx="6096000" cy="369332"/>
          </a:xfrm>
          <a:prstGeom prst="rect">
            <a:avLst/>
          </a:prstGeom>
          <a:noFill/>
        </p:spPr>
        <p:txBody>
          <a:bodyPr wrap="square">
            <a:spAutoFit/>
          </a:bodyPr>
          <a:lstStyle/>
          <a:p>
            <a:r>
              <a:rPr lang="en-IN" b="1" i="1" dirty="0"/>
              <a:t>INTEGRATED BANKING AND PAYMENT APPLICATION</a:t>
            </a:r>
            <a:endParaRPr lang="en-IN" dirty="0"/>
          </a:p>
        </p:txBody>
      </p:sp>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fontScale="70000" lnSpcReduction="20000"/>
          </a:bodyPr>
          <a:lstStyle/>
          <a:p>
            <a:r>
              <a:rPr lang="en-US" dirty="0">
                <a:latin typeface="RoMAN"/>
              </a:rPr>
              <a:t>The Integrated Banking and Payment Application is a web-based financial management platform designed to simulate multiple banking services within a single system.</a:t>
            </a:r>
          </a:p>
          <a:p>
            <a:r>
              <a:rPr lang="en-US" dirty="0">
                <a:latin typeface="RoMAN"/>
              </a:rPr>
              <a:t> The application provides features such as loan application and analysis, EMI calculation with graphical representation, UPI payment generation, currency conversion, smart calculator functionality, and an AI-based banking assistant.</a:t>
            </a:r>
          </a:p>
          <a:p>
            <a:r>
              <a:rPr lang="en-US" dirty="0">
                <a:latin typeface="RoMAN"/>
              </a:rPr>
              <a:t> The system begins with a secure login interface and language selection, improving accessibility for users. It includes a loan eligibility analysis module that compares interest rates from different banks and calculates EMI using standard financial formulas. The application also estimates loan approval probability based on credit score and co-applicant information, displaying results through an eligibility meter and comparison table.</a:t>
            </a:r>
          </a:p>
          <a:p>
            <a:r>
              <a:rPr lang="en-US" dirty="0">
                <a:latin typeface="RoMAN"/>
              </a:rPr>
              <a:t>Additional features include a UPI payment generator, a currency converter for exchange calculations, and an EMI calculator integrated with Chart.js for graphical visualization of payment trends. The built-in AI banking assistant helps users identify the best loan options based on interest rates.</a:t>
            </a:r>
            <a:br>
              <a:rPr lang="en-US" dirty="0">
                <a:latin typeface="RoMAN"/>
              </a:rPr>
            </a:br>
            <a:r>
              <a:rPr lang="en-US" dirty="0">
                <a:latin typeface="RoMAN"/>
              </a:rPr>
              <a:t>Overall, the project demonstrates the integration of HTML, CSS, and JavaScript to build an interactive, user-friendly, and feature-rich digital banking simulation system, helping users understand modern banking functionalities and financial decision-making.</a:t>
            </a:r>
            <a:br>
              <a:rPr lang="en-US" dirty="0">
                <a:latin typeface="RoMAN"/>
              </a:rPr>
            </a:br>
            <a:endParaRPr lang="en-IN" dirty="0">
              <a:latin typeface="RoMAN"/>
            </a:endParaRPr>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2715783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marL="0" indent="0">
              <a:buNone/>
            </a:pPr>
            <a:r>
              <a:rPr lang="en-US" dirty="0">
                <a:latin typeface="RoMAN"/>
              </a:rPr>
              <a:t>In the existing banking environment:</a:t>
            </a:r>
          </a:p>
          <a:p>
            <a:r>
              <a:rPr lang="en-US" dirty="0">
                <a:latin typeface="RoMAN"/>
              </a:rPr>
              <a:t>Loan comparison is difficult for users.</a:t>
            </a:r>
          </a:p>
          <a:p>
            <a:r>
              <a:rPr lang="en-US" dirty="0">
                <a:latin typeface="RoMAN"/>
              </a:rPr>
              <a:t>EMI calculations require manual tools.</a:t>
            </a:r>
          </a:p>
          <a:p>
            <a:r>
              <a:rPr lang="en-US" dirty="0">
                <a:latin typeface="RoMAN"/>
              </a:rPr>
              <a:t>Financial services are spread across different platforms.</a:t>
            </a:r>
          </a:p>
          <a:p>
            <a:r>
              <a:rPr lang="en-US" dirty="0">
                <a:latin typeface="RoMAN"/>
              </a:rPr>
              <a:t>Users must visit multiple websites for banking utilities.</a:t>
            </a:r>
          </a:p>
          <a:p>
            <a:r>
              <a:rPr lang="en-US" dirty="0">
                <a:latin typeface="RoMAN"/>
              </a:rPr>
              <a:t>No single platform provides </a:t>
            </a:r>
            <a:r>
              <a:rPr lang="en-US" b="1" dirty="0">
                <a:latin typeface="RoMAN"/>
              </a:rPr>
              <a:t>loan analysis, EMI visualization, and financial tools together</a:t>
            </a:r>
            <a:r>
              <a:rPr lang="en-US" dirty="0">
                <a:latin typeface="RoMAN"/>
              </a:rPr>
              <a:t>.</a:t>
            </a:r>
          </a:p>
          <a:p>
            <a:pPr marL="457200" lvl="1" indent="-339725" algn="just"/>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930833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9" name="Content Placeholder 8">
            <a:extLst>
              <a:ext uri="{FF2B5EF4-FFF2-40B4-BE49-F238E27FC236}">
                <a16:creationId xmlns:a16="http://schemas.microsoft.com/office/drawing/2014/main" id="{89135224-75FA-6942-7E71-50A315519F9D}"/>
              </a:ext>
            </a:extLst>
          </p:cNvPr>
          <p:cNvSpPr>
            <a:spLocks noGrp="1"/>
          </p:cNvSpPr>
          <p:nvPr>
            <p:ph idx="1"/>
          </p:nvPr>
        </p:nvSpPr>
        <p:spPr/>
        <p:txBody>
          <a:bodyPr>
            <a:normAutofit fontScale="62500" lnSpcReduction="20000"/>
          </a:bodyPr>
          <a:lstStyle/>
          <a:p>
            <a:pPr marL="0" indent="0">
              <a:buNone/>
            </a:pPr>
            <a:r>
              <a:rPr lang="en-IN" dirty="0">
                <a:latin typeface="RoMAN"/>
              </a:rPr>
              <a:t>The proposed system provides a </a:t>
            </a:r>
            <a:r>
              <a:rPr lang="en-IN" b="1" dirty="0">
                <a:latin typeface="RoMAN"/>
              </a:rPr>
              <a:t>single integrated platform</a:t>
            </a:r>
            <a:r>
              <a:rPr lang="en-IN" dirty="0">
                <a:latin typeface="RoMAN"/>
              </a:rPr>
              <a:t> for multiple banking services.</a:t>
            </a:r>
          </a:p>
          <a:p>
            <a:pPr marL="0" indent="0">
              <a:buNone/>
            </a:pPr>
            <a:r>
              <a:rPr lang="en-IN" u="sng" dirty="0">
                <a:latin typeface="RoMAN"/>
              </a:rPr>
              <a:t>Features include:</a:t>
            </a:r>
          </a:p>
          <a:p>
            <a:r>
              <a:rPr lang="en-IN" dirty="0">
                <a:latin typeface="RoMAN"/>
              </a:rPr>
              <a:t>Loan eligibility </a:t>
            </a:r>
            <a:r>
              <a:rPr lang="en-IN" dirty="0" err="1">
                <a:latin typeface="RoMAN"/>
              </a:rPr>
              <a:t>analysisentation</a:t>
            </a:r>
            <a:endParaRPr lang="en-IN" dirty="0">
              <a:latin typeface="RoMAN"/>
            </a:endParaRPr>
          </a:p>
          <a:p>
            <a:r>
              <a:rPr lang="en-IN" dirty="0">
                <a:latin typeface="RoMAN"/>
              </a:rPr>
              <a:t>UPI payment generator</a:t>
            </a:r>
          </a:p>
          <a:p>
            <a:r>
              <a:rPr lang="en-IN" dirty="0">
                <a:latin typeface="RoMAN"/>
              </a:rPr>
              <a:t>EMI calculator with graphical </a:t>
            </a:r>
            <a:r>
              <a:rPr lang="en-IN" dirty="0" err="1">
                <a:latin typeface="RoMAN"/>
              </a:rPr>
              <a:t>repres</a:t>
            </a:r>
            <a:endParaRPr lang="en-IN" dirty="0">
              <a:latin typeface="RoMAN"/>
            </a:endParaRPr>
          </a:p>
          <a:p>
            <a:r>
              <a:rPr lang="en-IN" dirty="0">
                <a:latin typeface="RoMAN"/>
              </a:rPr>
              <a:t>Currency converter</a:t>
            </a:r>
          </a:p>
          <a:p>
            <a:r>
              <a:rPr lang="en-IN" dirty="0">
                <a:latin typeface="RoMAN"/>
              </a:rPr>
              <a:t>Smart calculator</a:t>
            </a:r>
          </a:p>
          <a:p>
            <a:r>
              <a:rPr lang="en-IN" dirty="0">
                <a:latin typeface="RoMAN"/>
              </a:rPr>
              <a:t>AI banking assistant</a:t>
            </a:r>
          </a:p>
          <a:p>
            <a:pPr marL="0" indent="0">
              <a:buNone/>
            </a:pPr>
            <a:r>
              <a:rPr lang="en-IN" u="sng" dirty="0">
                <a:latin typeface="RoMAN"/>
              </a:rPr>
              <a:t>Benefits</a:t>
            </a:r>
            <a:r>
              <a:rPr lang="en-IN" dirty="0">
                <a:latin typeface="RoMAN"/>
              </a:rPr>
              <a:t>:</a:t>
            </a:r>
          </a:p>
          <a:p>
            <a:r>
              <a:rPr lang="en-IN" dirty="0">
                <a:latin typeface="RoMAN"/>
              </a:rPr>
              <a:t>Easy financial analysis</a:t>
            </a:r>
          </a:p>
          <a:p>
            <a:r>
              <a:rPr lang="en-IN" dirty="0">
                <a:latin typeface="RoMAN"/>
              </a:rPr>
              <a:t>User-friendly interface</a:t>
            </a:r>
          </a:p>
          <a:p>
            <a:r>
              <a:rPr lang="en-IN" dirty="0">
                <a:latin typeface="RoMAN"/>
              </a:rPr>
              <a:t>Faster loan comparison</a:t>
            </a:r>
          </a:p>
          <a:p>
            <a:r>
              <a:rPr lang="en-IN" dirty="0">
                <a:latin typeface="RoMAN"/>
              </a:rPr>
              <a:t>Better financial decision making</a:t>
            </a:r>
          </a:p>
          <a:p>
            <a:endParaRPr lang="en-US" dirty="0"/>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3205484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sp>
        <p:nvSpPr>
          <p:cNvPr id="9" name="Content Placeholder 8">
            <a:extLst>
              <a:ext uri="{FF2B5EF4-FFF2-40B4-BE49-F238E27FC236}">
                <a16:creationId xmlns:a16="http://schemas.microsoft.com/office/drawing/2014/main" id="{BB15296F-156D-BE47-727B-C34C7CDD40D4}"/>
              </a:ext>
            </a:extLst>
          </p:cNvPr>
          <p:cNvSpPr>
            <a:spLocks noGrp="1"/>
          </p:cNvSpPr>
          <p:nvPr>
            <p:ph idx="1"/>
          </p:nvPr>
        </p:nvSpPr>
        <p:spPr>
          <a:xfrm>
            <a:off x="838200" y="1489959"/>
            <a:ext cx="10515600" cy="4351338"/>
          </a:xfrm>
        </p:spPr>
        <p:txBody>
          <a:bodyPr>
            <a:normAutofit fontScale="25000" lnSpcReduction="20000"/>
          </a:bodyPr>
          <a:lstStyle/>
          <a:p>
            <a:pPr marL="0" indent="0">
              <a:buNone/>
            </a:pPr>
            <a:r>
              <a:rPr lang="en-IN" sz="8000" b="1" dirty="0"/>
              <a:t>User Interface Layer</a:t>
            </a:r>
            <a:endParaRPr lang="en-IN" sz="8000" dirty="0"/>
          </a:p>
          <a:p>
            <a:r>
              <a:rPr lang="en-IN" sz="8000" dirty="0"/>
              <a:t>HTML</a:t>
            </a:r>
          </a:p>
          <a:p>
            <a:r>
              <a:rPr lang="en-IN" sz="8000" dirty="0"/>
              <a:t>CSS</a:t>
            </a:r>
          </a:p>
          <a:p>
            <a:r>
              <a:rPr lang="en-IN" sz="8000" dirty="0"/>
              <a:t>Web UI Components</a:t>
            </a:r>
          </a:p>
          <a:p>
            <a:pPr marL="0" indent="0">
              <a:buNone/>
            </a:pPr>
            <a:r>
              <a:rPr lang="en-IN" sz="8000" dirty="0"/>
              <a:t>                  ⬇</a:t>
            </a:r>
          </a:p>
          <a:p>
            <a:pPr marL="0" indent="0">
              <a:buNone/>
            </a:pPr>
            <a:r>
              <a:rPr lang="en-IN" sz="8000" b="1" dirty="0"/>
              <a:t>Application Logic Layer</a:t>
            </a:r>
            <a:endParaRPr lang="en-IN" sz="8000" dirty="0"/>
          </a:p>
          <a:p>
            <a:r>
              <a:rPr lang="en-IN" sz="8000" dirty="0"/>
              <a:t>JavaScript</a:t>
            </a:r>
          </a:p>
          <a:p>
            <a:r>
              <a:rPr lang="en-IN" sz="8000" dirty="0"/>
              <a:t>Loan Analysis Algorithm</a:t>
            </a:r>
          </a:p>
          <a:p>
            <a:r>
              <a:rPr lang="en-IN" sz="8000" dirty="0"/>
              <a:t>EMI Calculation</a:t>
            </a:r>
          </a:p>
          <a:p>
            <a:r>
              <a:rPr lang="en-IN" sz="8000" dirty="0"/>
              <a:t>Currency Conversion</a:t>
            </a:r>
          </a:p>
          <a:p>
            <a:r>
              <a:rPr lang="en-IN" sz="8000" dirty="0"/>
              <a:t>Chatbot Logic</a:t>
            </a:r>
          </a:p>
          <a:p>
            <a:pPr marL="0" indent="0">
              <a:buNone/>
            </a:pPr>
            <a:r>
              <a:rPr lang="en-IN" sz="8000" dirty="0"/>
              <a:t>                  ⬇</a:t>
            </a:r>
          </a:p>
          <a:p>
            <a:pPr marL="0" indent="0">
              <a:buNone/>
            </a:pPr>
            <a:r>
              <a:rPr lang="en-IN" sz="8000" b="1" dirty="0"/>
              <a:t>Data &amp; Visualization Layer</a:t>
            </a:r>
            <a:endParaRPr lang="en-IN" sz="8000" dirty="0"/>
          </a:p>
          <a:p>
            <a:r>
              <a:rPr lang="en-IN" sz="8000" dirty="0"/>
              <a:t>Chart.js Graphs</a:t>
            </a:r>
          </a:p>
          <a:p>
            <a:r>
              <a:rPr lang="en-IN" sz="8000" dirty="0"/>
              <a:t>Bank Interest Rate Data</a:t>
            </a:r>
          </a:p>
          <a:p>
            <a:r>
              <a:rPr lang="en-IN" sz="8000" dirty="0"/>
              <a:t>Local Storage</a:t>
            </a:r>
          </a:p>
          <a:p>
            <a:endParaRPr lang="en-US" dirty="0"/>
          </a:p>
        </p:txBody>
      </p:sp>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a:xfrm>
            <a:off x="7442200" y="6492875"/>
            <a:ext cx="2743200" cy="365125"/>
          </a:xfrm>
        </p:spPr>
        <p:txBody>
          <a:bodyPr/>
          <a:lstStyle/>
          <a:p>
            <a:fld id="{20A639D7-EAE1-7C4A-AC63-30DD6B16DE20}" type="datetime1">
              <a:rPr lang="en-IN" smtClean="0"/>
              <a:t>10-03-2026</a:t>
            </a:fld>
            <a:endParaRPr lang="en-US" dirty="0"/>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a:xfrm>
            <a:off x="7924800" y="6447367"/>
            <a:ext cx="4114800" cy="365125"/>
          </a:xfrm>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3489011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9" name="Content Placeholder 8">
            <a:extLst>
              <a:ext uri="{FF2B5EF4-FFF2-40B4-BE49-F238E27FC236}">
                <a16:creationId xmlns:a16="http://schemas.microsoft.com/office/drawing/2014/main" id="{1890F206-B37F-761D-F471-0BF91F889799}"/>
              </a:ext>
            </a:extLst>
          </p:cNvPr>
          <p:cNvSpPr>
            <a:spLocks noGrp="1"/>
          </p:cNvSpPr>
          <p:nvPr>
            <p:ph idx="1"/>
          </p:nvPr>
        </p:nvSpPr>
        <p:spPr>
          <a:xfrm>
            <a:off x="838200" y="1253331"/>
            <a:ext cx="10515600" cy="4351338"/>
          </a:xfrm>
        </p:spPr>
        <p:txBody>
          <a:bodyPr>
            <a:normAutofit fontScale="25000" lnSpcReduction="20000"/>
          </a:bodyPr>
          <a:lstStyle/>
          <a:p>
            <a:pPr marL="0" indent="0">
              <a:buNone/>
            </a:pPr>
            <a:r>
              <a:rPr lang="en-IN" sz="7200" dirty="0"/>
              <a:t>The system contains the following modules:</a:t>
            </a:r>
          </a:p>
          <a:p>
            <a:r>
              <a:rPr lang="en-IN" sz="7200" b="1" dirty="0"/>
              <a:t>Login Module</a:t>
            </a:r>
            <a:br>
              <a:rPr lang="en-IN" sz="7200" dirty="0"/>
            </a:br>
            <a:r>
              <a:rPr lang="en-IN" sz="7200" dirty="0"/>
              <a:t>User authentication</a:t>
            </a:r>
            <a:br>
              <a:rPr lang="en-IN" sz="7200" dirty="0"/>
            </a:br>
            <a:r>
              <a:rPr lang="en-IN" sz="7200" dirty="0"/>
              <a:t>Local storage session</a:t>
            </a:r>
          </a:p>
          <a:p>
            <a:r>
              <a:rPr lang="en-IN" sz="7200" b="1" dirty="0"/>
              <a:t>Language Selection Module</a:t>
            </a:r>
            <a:br>
              <a:rPr lang="en-IN" sz="7200" dirty="0"/>
            </a:br>
            <a:r>
              <a:rPr lang="en-IN" sz="7200" dirty="0"/>
              <a:t>Multiple language options</a:t>
            </a:r>
          </a:p>
          <a:p>
            <a:r>
              <a:rPr lang="en-IN" sz="7200" b="1" dirty="0"/>
              <a:t>Loan Application Module</a:t>
            </a:r>
            <a:br>
              <a:rPr lang="en-IN" sz="7200" dirty="0"/>
            </a:br>
            <a:r>
              <a:rPr lang="en-IN" sz="7200" dirty="0"/>
              <a:t>Loan type selection</a:t>
            </a:r>
            <a:br>
              <a:rPr lang="en-IN" sz="7200" dirty="0"/>
            </a:br>
            <a:r>
              <a:rPr lang="en-IN" sz="7200" dirty="0"/>
              <a:t>Credit </a:t>
            </a:r>
            <a:r>
              <a:rPr lang="en-IN" sz="7200" dirty="0">
                <a:latin typeface="RoMAN"/>
              </a:rPr>
              <a:t>score</a:t>
            </a:r>
            <a:r>
              <a:rPr lang="en-IN" sz="7200" dirty="0"/>
              <a:t> analysis</a:t>
            </a:r>
          </a:p>
          <a:p>
            <a:r>
              <a:rPr lang="en-IN" sz="7200" b="1" dirty="0"/>
              <a:t>Loan Comparison Module</a:t>
            </a:r>
            <a:br>
              <a:rPr lang="en-IN" sz="7200" dirty="0"/>
            </a:br>
            <a:r>
              <a:rPr lang="en-IN" sz="7200" dirty="0"/>
              <a:t>Bank interest comparison</a:t>
            </a:r>
            <a:br>
              <a:rPr lang="en-IN" sz="7200" dirty="0"/>
            </a:br>
            <a:r>
              <a:rPr lang="en-IN" sz="7200" dirty="0"/>
              <a:t>EMI calculation</a:t>
            </a:r>
          </a:p>
          <a:p>
            <a:r>
              <a:rPr lang="en-IN" sz="7200" b="1" dirty="0"/>
              <a:t>EMI Graph Module</a:t>
            </a:r>
            <a:br>
              <a:rPr lang="en-IN" sz="7200" dirty="0"/>
            </a:br>
            <a:r>
              <a:rPr lang="en-IN" sz="7200" dirty="0"/>
              <a:t>Chart.js graphical visualization</a:t>
            </a:r>
          </a:p>
          <a:p>
            <a:r>
              <a:rPr lang="en-IN" sz="7200" b="1" dirty="0"/>
              <a:t>UPI Payment Module</a:t>
            </a:r>
            <a:br>
              <a:rPr lang="en-IN" sz="7200" dirty="0"/>
            </a:br>
            <a:r>
              <a:rPr lang="en-IN" sz="7200" dirty="0"/>
              <a:t>Generates payment link</a:t>
            </a:r>
          </a:p>
          <a:p>
            <a:r>
              <a:rPr lang="en-IN" sz="7200" b="1" dirty="0"/>
              <a:t>Currency Converter</a:t>
            </a:r>
            <a:br>
              <a:rPr lang="en-IN" sz="7200" dirty="0"/>
            </a:br>
            <a:r>
              <a:rPr lang="en-IN" sz="7200" dirty="0"/>
              <a:t>Exchange rate conversion</a:t>
            </a:r>
          </a:p>
          <a:p>
            <a:r>
              <a:rPr lang="en-IN" sz="7200" b="1" dirty="0"/>
              <a:t>Smart Calculator</a:t>
            </a:r>
            <a:br>
              <a:rPr lang="en-IN" sz="7200" dirty="0"/>
            </a:br>
            <a:r>
              <a:rPr lang="en-IN" sz="7200" dirty="0"/>
              <a:t>Arithmetic operations</a:t>
            </a:r>
          </a:p>
          <a:p>
            <a:r>
              <a:rPr lang="en-IN" sz="7200" b="1" dirty="0"/>
              <a:t>AI Banking Assistant</a:t>
            </a:r>
            <a:br>
              <a:rPr lang="en-IN" sz="7200" dirty="0"/>
            </a:br>
            <a:r>
              <a:rPr lang="en-IN" sz="7200" dirty="0"/>
              <a:t>Suggests best loan options</a:t>
            </a:r>
          </a:p>
          <a:p>
            <a:endParaRPr lang="en-US" dirty="0"/>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a:xfrm>
            <a:off x="7696200" y="6396567"/>
            <a:ext cx="2743200" cy="365125"/>
          </a:xfrm>
        </p:spPr>
        <p:txBody>
          <a:bodyPr/>
          <a:lstStyle/>
          <a:p>
            <a:fld id="{20A639D7-EAE1-7C4A-AC63-30DD6B16DE20}" type="datetime1">
              <a:rPr lang="en-IN" smtClean="0"/>
              <a:t>10-03-2026</a:t>
            </a:fld>
            <a:endParaRPr lang="en-US" dirty="0"/>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4072965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9" name="Content Placeholder 8">
            <a:extLst>
              <a:ext uri="{FF2B5EF4-FFF2-40B4-BE49-F238E27FC236}">
                <a16:creationId xmlns:a16="http://schemas.microsoft.com/office/drawing/2014/main" id="{363C44B8-E8B6-5D9D-90FF-ECD825D72DFC}"/>
              </a:ext>
            </a:extLst>
          </p:cNvPr>
          <p:cNvSpPr>
            <a:spLocks noGrp="1"/>
          </p:cNvSpPr>
          <p:nvPr>
            <p:ph idx="1"/>
          </p:nvPr>
        </p:nvSpPr>
        <p:spPr/>
        <p:txBody>
          <a:bodyPr>
            <a:normAutofit/>
          </a:bodyPr>
          <a:lstStyle/>
          <a:p>
            <a:pPr marL="0" indent="0">
              <a:buNone/>
            </a:pPr>
            <a:r>
              <a:rPr lang="en-US" dirty="0">
                <a:latin typeface="RoMAN"/>
              </a:rPr>
              <a:t>The</a:t>
            </a:r>
            <a:r>
              <a:rPr lang="en-US" dirty="0"/>
              <a:t> objectives of the project are:</a:t>
            </a:r>
          </a:p>
          <a:p>
            <a:r>
              <a:rPr lang="en-US" dirty="0"/>
              <a:t>To design a </a:t>
            </a:r>
            <a:r>
              <a:rPr lang="en-US" b="1" dirty="0"/>
              <a:t>web-based banking simulation system</a:t>
            </a:r>
            <a:r>
              <a:rPr lang="en-US" dirty="0"/>
              <a:t>.</a:t>
            </a:r>
          </a:p>
          <a:p>
            <a:r>
              <a:rPr lang="en-US" dirty="0"/>
              <a:t>To implement </a:t>
            </a:r>
            <a:r>
              <a:rPr lang="en-US" b="1" dirty="0"/>
              <a:t>loan eligibility analysis</a:t>
            </a:r>
            <a:r>
              <a:rPr lang="en-US" dirty="0"/>
              <a:t>.</a:t>
            </a:r>
          </a:p>
          <a:p>
            <a:r>
              <a:rPr lang="en-US" dirty="0"/>
              <a:t>To calculate </a:t>
            </a:r>
            <a:r>
              <a:rPr lang="en-US" b="1" dirty="0"/>
              <a:t>EMI using financial formulas</a:t>
            </a:r>
            <a:r>
              <a:rPr lang="en-US" dirty="0"/>
              <a:t>.</a:t>
            </a:r>
          </a:p>
          <a:p>
            <a:r>
              <a:rPr lang="en-US" dirty="0"/>
              <a:t>To provide </a:t>
            </a:r>
            <a:r>
              <a:rPr lang="en-US" b="1" dirty="0"/>
              <a:t>graphical visualization of EMI payments</a:t>
            </a:r>
            <a:r>
              <a:rPr lang="en-US" dirty="0"/>
              <a:t>.</a:t>
            </a:r>
          </a:p>
          <a:p>
            <a:r>
              <a:rPr lang="en-US" dirty="0"/>
              <a:t>To integrate multiple financial tools into one platform.</a:t>
            </a:r>
          </a:p>
          <a:p>
            <a:r>
              <a:rPr lang="en-US" dirty="0"/>
              <a:t>To improve understanding of </a:t>
            </a:r>
            <a:r>
              <a:rPr lang="en-US" b="1" dirty="0"/>
              <a:t>digital banking services</a:t>
            </a:r>
            <a:r>
              <a:rPr lang="en-US" dirty="0"/>
              <a:t>.</a:t>
            </a: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1263985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179917"/>
            <a:ext cx="10173182" cy="1128009"/>
          </a:xfrm>
        </p:spPr>
        <p:txBody>
          <a:bodyPr/>
          <a:lstStyle/>
          <a:p>
            <a:pPr algn="ctr"/>
            <a:r>
              <a:rPr lang="en-US" b="1" dirty="0"/>
              <a:t>Co’s Attainments - FWD</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a:xfrm>
            <a:off x="838200" y="1253331"/>
            <a:ext cx="10515600" cy="4102440"/>
          </a:xfrm>
        </p:spPr>
        <p:txBody>
          <a:bodyPr>
            <a:normAutofit fontScale="25000" lnSpcReduction="20000"/>
          </a:bodyPr>
          <a:lstStyle/>
          <a:p>
            <a:r>
              <a:rPr lang="en-IN" sz="7200" b="1" dirty="0">
                <a:latin typeface="RoMAN"/>
              </a:rPr>
              <a:t>CO1 – Internet Fundamentals &amp; HTML/CSS Basics</a:t>
            </a:r>
          </a:p>
          <a:p>
            <a:pPr marL="0" indent="0">
              <a:buNone/>
            </a:pPr>
            <a:r>
              <a:rPr lang="en-IN" sz="7200" dirty="0">
                <a:latin typeface="RoMAN"/>
              </a:rPr>
              <a:t>Implemented using </a:t>
            </a:r>
            <a:r>
              <a:rPr lang="en-IN" sz="7200" b="1" dirty="0">
                <a:latin typeface="RoMAN"/>
              </a:rPr>
              <a:t>HTML structure</a:t>
            </a:r>
            <a:r>
              <a:rPr lang="en-IN" sz="7200" dirty="0">
                <a:latin typeface="RoMAN"/>
              </a:rPr>
              <a:t> (&lt;!DOCTYPE&gt;, &lt;header&gt;, &lt;section&gt;, &lt;input&gt;, &lt;button&gt;) and </a:t>
            </a:r>
            <a:r>
              <a:rPr lang="en-IN" sz="7200" b="1" dirty="0">
                <a:latin typeface="RoMAN"/>
              </a:rPr>
              <a:t>CSS styling</a:t>
            </a:r>
            <a:r>
              <a:rPr lang="en-IN" sz="7200" dirty="0">
                <a:latin typeface="RoMAN"/>
              </a:rPr>
              <a:t> (colours  , fonts, margins, padding, CSS variables) to design the login page, loan form, and dashboard UI.</a:t>
            </a:r>
          </a:p>
          <a:p>
            <a:pPr marL="0" indent="0">
              <a:buNone/>
            </a:pPr>
            <a:endParaRPr lang="en-IN" sz="7200" dirty="0">
              <a:latin typeface="RoMAN"/>
            </a:endParaRPr>
          </a:p>
          <a:p>
            <a:r>
              <a:rPr lang="en-IN" sz="7200" b="1" dirty="0">
                <a:latin typeface="RoMAN"/>
              </a:rPr>
              <a:t>CO2 – Forms, Semantic HTML &amp; Advanced CSS</a:t>
            </a:r>
          </a:p>
          <a:p>
            <a:pPr marL="0" indent="0">
              <a:buNone/>
            </a:pPr>
            <a:r>
              <a:rPr lang="en-IN" sz="7200" dirty="0">
                <a:latin typeface="RoMAN"/>
              </a:rPr>
              <a:t>Implemented using </a:t>
            </a:r>
            <a:r>
              <a:rPr lang="en-IN" sz="7200" b="1" dirty="0">
                <a:latin typeface="RoMAN"/>
              </a:rPr>
              <a:t>HTML forms</a:t>
            </a:r>
            <a:r>
              <a:rPr lang="en-IN" sz="7200" dirty="0">
                <a:latin typeface="RoMAN"/>
              </a:rPr>
              <a:t> (&lt;input&gt;, &lt;select&gt;, &lt;option&gt;, &lt;button&gt;) and </a:t>
            </a:r>
            <a:r>
              <a:rPr lang="en-IN" sz="7200" b="1" dirty="0">
                <a:latin typeface="RoMAN"/>
              </a:rPr>
              <a:t>semantic tags</a:t>
            </a:r>
            <a:r>
              <a:rPr lang="en-IN" sz="7200" dirty="0">
                <a:latin typeface="RoMAN"/>
              </a:rPr>
              <a:t> (&lt;header&gt;, &lt;section&gt;). Advanced CSS features like </a:t>
            </a:r>
            <a:r>
              <a:rPr lang="en-IN" sz="7200" b="1" dirty="0">
                <a:latin typeface="RoMAN"/>
              </a:rPr>
              <a:t>Grid layout, hover effects, transitions, and responsive viewport meta tag</a:t>
            </a:r>
            <a:r>
              <a:rPr lang="en-IN" sz="7200" dirty="0">
                <a:latin typeface="RoMAN"/>
              </a:rPr>
              <a:t> are used.</a:t>
            </a:r>
          </a:p>
          <a:p>
            <a:endParaRPr lang="en-IN" sz="7200" dirty="0">
              <a:latin typeface="RoMAN"/>
            </a:endParaRPr>
          </a:p>
          <a:p>
            <a:r>
              <a:rPr lang="en-IN" sz="7200" b="1" dirty="0">
                <a:latin typeface="RoMAN"/>
              </a:rPr>
              <a:t>CO3 – JavaScript Programming Essentials</a:t>
            </a:r>
          </a:p>
          <a:p>
            <a:pPr marL="0" indent="0">
              <a:buNone/>
            </a:pPr>
            <a:r>
              <a:rPr lang="en-IN" sz="7200" dirty="0">
                <a:latin typeface="RoMAN"/>
              </a:rPr>
              <a:t>Implemented using </a:t>
            </a:r>
            <a:r>
              <a:rPr lang="en-IN" sz="7200" b="1" dirty="0">
                <a:latin typeface="RoMAN"/>
              </a:rPr>
              <a:t>JavaScript functions, conditions, loops, arrays, and objects</a:t>
            </a:r>
            <a:r>
              <a:rPr lang="en-IN" sz="7200" dirty="0">
                <a:latin typeface="RoMAN"/>
              </a:rPr>
              <a:t> for loan analysis, EMI calculation, currency conversion, calculator operations, and chatbot logic.</a:t>
            </a:r>
            <a:br>
              <a:rPr lang="en-IN" sz="7200" dirty="0">
                <a:latin typeface="RoMAN"/>
              </a:rPr>
            </a:br>
            <a:endParaRPr lang="en-IN" sz="7200" dirty="0">
              <a:latin typeface="RoMAN"/>
            </a:endParaRPr>
          </a:p>
          <a:p>
            <a:r>
              <a:rPr lang="en-IN" sz="7200" b="1" dirty="0">
                <a:latin typeface="RoMAN"/>
              </a:rPr>
              <a:t>CO4 – JavaScript Interactivity, DOM &amp; Storage</a:t>
            </a:r>
          </a:p>
          <a:p>
            <a:pPr marL="0" indent="0">
              <a:buNone/>
            </a:pPr>
            <a:r>
              <a:rPr lang="en-IN" sz="7200" dirty="0">
                <a:latin typeface="RoMAN"/>
              </a:rPr>
              <a:t>Implemented using </a:t>
            </a:r>
            <a:r>
              <a:rPr lang="en-IN" sz="7200" b="1" dirty="0">
                <a:latin typeface="RoMAN"/>
              </a:rPr>
              <a:t>DOM manipulation</a:t>
            </a:r>
            <a:r>
              <a:rPr lang="en-IN" sz="7200" dirty="0">
                <a:latin typeface="RoMAN"/>
              </a:rPr>
              <a:t> (document . query Selector , inner HTML), </a:t>
            </a:r>
            <a:r>
              <a:rPr lang="en-IN" sz="7200" b="1" dirty="0">
                <a:latin typeface="RoMAN"/>
              </a:rPr>
              <a:t>event handling</a:t>
            </a:r>
            <a:r>
              <a:rPr lang="en-IN" sz="7200" dirty="0">
                <a:latin typeface="RoMAN"/>
              </a:rPr>
              <a:t> (onclick), </a:t>
            </a:r>
            <a:r>
              <a:rPr lang="en-IN" sz="7200" b="1" dirty="0">
                <a:latin typeface="RoMAN"/>
              </a:rPr>
              <a:t>local Storage</a:t>
            </a:r>
            <a:r>
              <a:rPr lang="en-IN" sz="7200" dirty="0">
                <a:latin typeface="RoMAN"/>
              </a:rPr>
              <a:t> for login session, and </a:t>
            </a:r>
            <a:r>
              <a:rPr lang="en-IN" sz="7200" b="1" dirty="0">
                <a:latin typeface="RoMAN"/>
              </a:rPr>
              <a:t>try–catch exception handling</a:t>
            </a:r>
            <a:r>
              <a:rPr lang="en-IN" sz="7200" dirty="0">
                <a:latin typeface="RoMAN"/>
              </a:rPr>
              <a:t>. </a:t>
            </a:r>
            <a:r>
              <a:rPr lang="en-IN" sz="7200" b="1" dirty="0">
                <a:latin typeface="RoMAN"/>
              </a:rPr>
              <a:t>Chart.js</a:t>
            </a:r>
            <a:r>
              <a:rPr lang="en-IN" sz="7200" dirty="0">
                <a:latin typeface="RoMAN"/>
              </a:rPr>
              <a:t> is used to display the EMI graph.</a:t>
            </a:r>
          </a:p>
          <a:p>
            <a:pPr marL="0" indent="0">
              <a:buNone/>
            </a:pPr>
            <a:endParaRPr lang="en-IN" sz="7200" dirty="0">
              <a:latin typeface="RoMAN"/>
            </a:endParaRPr>
          </a:p>
          <a:p>
            <a:r>
              <a:rPr lang="en-IN" sz="7200" b="1" dirty="0">
                <a:latin typeface="RoMAN"/>
              </a:rPr>
              <a:t>CO5 – Advanced Web Development &amp; Optimization</a:t>
            </a:r>
          </a:p>
          <a:p>
            <a:pPr marL="0" indent="0">
              <a:buNone/>
            </a:pPr>
            <a:r>
              <a:rPr lang="en-IN" sz="7200" dirty="0">
                <a:latin typeface="RoMAN"/>
              </a:rPr>
              <a:t>Implemented using </a:t>
            </a:r>
            <a:r>
              <a:rPr lang="en-IN" sz="7200" b="1" dirty="0">
                <a:latin typeface="RoMAN"/>
              </a:rPr>
              <a:t>SEO meta tags</a:t>
            </a:r>
            <a:r>
              <a:rPr lang="en-IN" sz="7200" dirty="0">
                <a:latin typeface="RoMAN"/>
              </a:rPr>
              <a:t>, </a:t>
            </a:r>
            <a:r>
              <a:rPr lang="en-IN" sz="7200" b="1" dirty="0">
                <a:latin typeface="RoMAN"/>
              </a:rPr>
              <a:t>Content Security Policy for security</a:t>
            </a:r>
            <a:r>
              <a:rPr lang="en-IN" sz="7200" dirty="0">
                <a:latin typeface="RoMAN"/>
              </a:rPr>
              <a:t>, </a:t>
            </a:r>
            <a:r>
              <a:rPr lang="en-IN" sz="7200" b="1" dirty="0">
                <a:latin typeface="RoMAN"/>
              </a:rPr>
              <a:t>lazy loading images for performance</a:t>
            </a:r>
            <a:r>
              <a:rPr lang="en-IN" sz="7200" dirty="0">
                <a:latin typeface="RoMAN"/>
              </a:rPr>
              <a:t>, and development of a </a:t>
            </a:r>
            <a:r>
              <a:rPr lang="en-IN" sz="7200" b="1" dirty="0">
                <a:latin typeface="RoMAN"/>
              </a:rPr>
              <a:t>fully functional responsive banking web application</a:t>
            </a:r>
            <a:r>
              <a:rPr lang="en-IN" sz="7200" dirty="0">
                <a:latin typeface="RoMAN"/>
              </a:rPr>
              <a:t>.</a:t>
            </a:r>
          </a:p>
          <a:p>
            <a:pPr marL="457200" lvl="1" indent="0">
              <a:buNone/>
            </a:pPr>
            <a:endParaRPr lang="en-IN" dirty="0"/>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a:xfrm>
            <a:off x="8813800" y="6562195"/>
            <a:ext cx="4114800" cy="365125"/>
          </a:xfrm>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a:xfrm>
            <a:off x="9287933" y="6413500"/>
            <a:ext cx="2743200" cy="365125"/>
          </a:xfrm>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1906946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p:txBody>
          <a:bodyPr/>
          <a:lstStyle/>
          <a:p>
            <a:r>
              <a:rPr lang="en-US" dirty="0"/>
              <a:t>Screenshots for FWD </a:t>
            </a:r>
          </a:p>
        </p:txBody>
      </p:sp>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9</a:t>
            </a:fld>
            <a:endParaRPr lang="en-US"/>
          </a:p>
        </p:txBody>
      </p:sp>
      <p:pic>
        <p:nvPicPr>
          <p:cNvPr id="7" name="Content Placeholder 4">
            <a:extLst>
              <a:ext uri="{FF2B5EF4-FFF2-40B4-BE49-F238E27FC236}">
                <a16:creationId xmlns:a16="http://schemas.microsoft.com/office/drawing/2014/main" id="{0C5985F9-5751-A9BF-CAB1-B3AEDCEA4DF4}"/>
              </a:ext>
            </a:extLst>
          </p:cNvPr>
          <p:cNvPicPr>
            <a:picLocks noGrp="1" noChangeAspect="1"/>
          </p:cNvPicPr>
          <p:nvPr>
            <p:ph idx="1"/>
          </p:nvPr>
        </p:nvPicPr>
        <p:blipFill>
          <a:blip r:embed="rId2"/>
          <a:stretch>
            <a:fillRect/>
          </a:stretch>
        </p:blipFill>
        <p:spPr>
          <a:xfrm>
            <a:off x="430453" y="1800755"/>
            <a:ext cx="2743200" cy="2428569"/>
          </a:xfrm>
          <a:prstGeom prst="rect">
            <a:avLst/>
          </a:prstGeom>
        </p:spPr>
      </p:pic>
      <p:pic>
        <p:nvPicPr>
          <p:cNvPr id="8" name="Picture 7">
            <a:extLst>
              <a:ext uri="{FF2B5EF4-FFF2-40B4-BE49-F238E27FC236}">
                <a16:creationId xmlns:a16="http://schemas.microsoft.com/office/drawing/2014/main" id="{F6CB1655-8E73-0B66-D3BA-9BB88E32BA03}"/>
              </a:ext>
            </a:extLst>
          </p:cNvPr>
          <p:cNvPicPr>
            <a:picLocks noChangeAspect="1"/>
          </p:cNvPicPr>
          <p:nvPr/>
        </p:nvPicPr>
        <p:blipFill>
          <a:blip r:embed="rId3"/>
          <a:stretch>
            <a:fillRect/>
          </a:stretch>
        </p:blipFill>
        <p:spPr>
          <a:xfrm>
            <a:off x="3581400" y="1800755"/>
            <a:ext cx="2948038" cy="2428569"/>
          </a:xfrm>
          <a:prstGeom prst="rect">
            <a:avLst/>
          </a:prstGeom>
        </p:spPr>
      </p:pic>
      <p:pic>
        <p:nvPicPr>
          <p:cNvPr id="9" name="Picture 8">
            <a:extLst>
              <a:ext uri="{FF2B5EF4-FFF2-40B4-BE49-F238E27FC236}">
                <a16:creationId xmlns:a16="http://schemas.microsoft.com/office/drawing/2014/main" id="{77AA22B5-C06B-19A3-8CC5-E1865B37D958}"/>
              </a:ext>
            </a:extLst>
          </p:cNvPr>
          <p:cNvPicPr>
            <a:picLocks noChangeAspect="1"/>
          </p:cNvPicPr>
          <p:nvPr/>
        </p:nvPicPr>
        <p:blipFill>
          <a:blip r:embed="rId4"/>
          <a:stretch>
            <a:fillRect/>
          </a:stretch>
        </p:blipFill>
        <p:spPr>
          <a:xfrm>
            <a:off x="7139357" y="1761311"/>
            <a:ext cx="3342603" cy="2468013"/>
          </a:xfrm>
          <a:prstGeom prst="rect">
            <a:avLst/>
          </a:prstGeom>
        </p:spPr>
      </p:pic>
      <p:pic>
        <p:nvPicPr>
          <p:cNvPr id="10" name="Picture 9">
            <a:extLst>
              <a:ext uri="{FF2B5EF4-FFF2-40B4-BE49-F238E27FC236}">
                <a16:creationId xmlns:a16="http://schemas.microsoft.com/office/drawing/2014/main" id="{0A980816-5135-90AD-7810-2EA1F63A9DE6}"/>
              </a:ext>
            </a:extLst>
          </p:cNvPr>
          <p:cNvPicPr>
            <a:picLocks noChangeAspect="1"/>
          </p:cNvPicPr>
          <p:nvPr/>
        </p:nvPicPr>
        <p:blipFill>
          <a:blip r:embed="rId5"/>
          <a:stretch>
            <a:fillRect/>
          </a:stretch>
        </p:blipFill>
        <p:spPr>
          <a:xfrm>
            <a:off x="430453" y="4460055"/>
            <a:ext cx="2743200" cy="2261420"/>
          </a:xfrm>
          <a:prstGeom prst="rect">
            <a:avLst/>
          </a:prstGeom>
        </p:spPr>
      </p:pic>
      <p:pic>
        <p:nvPicPr>
          <p:cNvPr id="11" name="Picture 10">
            <a:extLst>
              <a:ext uri="{FF2B5EF4-FFF2-40B4-BE49-F238E27FC236}">
                <a16:creationId xmlns:a16="http://schemas.microsoft.com/office/drawing/2014/main" id="{897F3F7D-4A25-CBF5-4003-A4633796CDE9}"/>
              </a:ext>
            </a:extLst>
          </p:cNvPr>
          <p:cNvPicPr>
            <a:picLocks noChangeAspect="1"/>
          </p:cNvPicPr>
          <p:nvPr/>
        </p:nvPicPr>
        <p:blipFill>
          <a:blip r:embed="rId6"/>
          <a:stretch>
            <a:fillRect/>
          </a:stretch>
        </p:blipFill>
        <p:spPr>
          <a:xfrm>
            <a:off x="3581400" y="4460056"/>
            <a:ext cx="2948038" cy="2261420"/>
          </a:xfrm>
          <a:prstGeom prst="rect">
            <a:avLst/>
          </a:prstGeom>
        </p:spPr>
      </p:pic>
      <p:pic>
        <p:nvPicPr>
          <p:cNvPr id="12" name="Picture 11">
            <a:extLst>
              <a:ext uri="{FF2B5EF4-FFF2-40B4-BE49-F238E27FC236}">
                <a16:creationId xmlns:a16="http://schemas.microsoft.com/office/drawing/2014/main" id="{86BCFB06-7058-9F7E-211B-CD8C8CA0FFA3}"/>
              </a:ext>
            </a:extLst>
          </p:cNvPr>
          <p:cNvPicPr>
            <a:picLocks noChangeAspect="1"/>
          </p:cNvPicPr>
          <p:nvPr/>
        </p:nvPicPr>
        <p:blipFill>
          <a:blip r:embed="rId7"/>
          <a:stretch>
            <a:fillRect/>
          </a:stretch>
        </p:blipFill>
        <p:spPr>
          <a:xfrm>
            <a:off x="7139358" y="4460056"/>
            <a:ext cx="3342602" cy="2261420"/>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D3FBFCD-E8A3-46E6-FC45-F17A4AAD2783}"/>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119014D7-0374-596C-B594-CF3F23D8A50F}"/>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2DC3573F-BF30-6A68-08C4-EFAB704465C3}"/>
              </a:ext>
            </a:extLst>
          </p:cNvPr>
          <p:cNvSpPr>
            <a:spLocks noGrp="1"/>
          </p:cNvSpPr>
          <p:nvPr>
            <p:ph type="sldNum" sz="quarter" idx="12"/>
          </p:nvPr>
        </p:nvSpPr>
        <p:spPr/>
        <p:txBody>
          <a:bodyPr/>
          <a:lstStyle/>
          <a:p>
            <a:fld id="{B961B71F-4B40-8942-BB88-E0F5C0B46E10}" type="slidenum">
              <a:rPr lang="en-US" smtClean="0"/>
              <a:t>10</a:t>
            </a:fld>
            <a:endParaRPr lang="en-US"/>
          </a:p>
        </p:txBody>
      </p:sp>
      <p:pic>
        <p:nvPicPr>
          <p:cNvPr id="7" name="Picture 6">
            <a:extLst>
              <a:ext uri="{FF2B5EF4-FFF2-40B4-BE49-F238E27FC236}">
                <a16:creationId xmlns:a16="http://schemas.microsoft.com/office/drawing/2014/main" id="{11F560C6-40A9-CF24-3F37-954A5FFE7E94}"/>
              </a:ext>
            </a:extLst>
          </p:cNvPr>
          <p:cNvPicPr>
            <a:picLocks noChangeAspect="1"/>
          </p:cNvPicPr>
          <p:nvPr/>
        </p:nvPicPr>
        <p:blipFill>
          <a:blip r:embed="rId2"/>
          <a:stretch>
            <a:fillRect/>
          </a:stretch>
        </p:blipFill>
        <p:spPr>
          <a:xfrm>
            <a:off x="365760" y="228323"/>
            <a:ext cx="4013200" cy="2921277"/>
          </a:xfrm>
          <a:prstGeom prst="rect">
            <a:avLst/>
          </a:prstGeom>
        </p:spPr>
      </p:pic>
      <p:pic>
        <p:nvPicPr>
          <p:cNvPr id="8" name="Picture 7">
            <a:extLst>
              <a:ext uri="{FF2B5EF4-FFF2-40B4-BE49-F238E27FC236}">
                <a16:creationId xmlns:a16="http://schemas.microsoft.com/office/drawing/2014/main" id="{64738CD3-630E-1CD9-C42C-640D5030E62D}"/>
              </a:ext>
            </a:extLst>
          </p:cNvPr>
          <p:cNvPicPr>
            <a:picLocks noChangeAspect="1"/>
          </p:cNvPicPr>
          <p:nvPr/>
        </p:nvPicPr>
        <p:blipFill>
          <a:blip r:embed="rId3"/>
          <a:stretch>
            <a:fillRect/>
          </a:stretch>
        </p:blipFill>
        <p:spPr>
          <a:xfrm>
            <a:off x="4714240" y="228323"/>
            <a:ext cx="4602480" cy="2921277"/>
          </a:xfrm>
          <a:prstGeom prst="rect">
            <a:avLst/>
          </a:prstGeom>
        </p:spPr>
      </p:pic>
    </p:spTree>
    <p:extLst>
      <p:ext uri="{BB962C8B-B14F-4D97-AF65-F5344CB8AC3E}">
        <p14:creationId xmlns:p14="http://schemas.microsoft.com/office/powerpoint/2010/main" val="1523834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p:txBody>
          <a:bodyPr>
            <a:normAutofit/>
          </a:bodyPr>
          <a:lstStyle/>
          <a:p>
            <a:r>
              <a:rPr lang="en-US" dirty="0">
                <a:latin typeface="RoMAN"/>
              </a:rPr>
              <a:t>The </a:t>
            </a:r>
            <a:r>
              <a:rPr lang="en-IN" b="1" i="1" dirty="0">
                <a:latin typeface="RoMAN"/>
              </a:rPr>
              <a:t>INTEGRATED BANKING AND PAYMENT APPLICATION </a:t>
            </a:r>
            <a:r>
              <a:rPr lang="en-US" dirty="0">
                <a:latin typeface="RoMAN"/>
              </a:rPr>
              <a:t>successfully demonstrates the development of a financial web application using </a:t>
            </a:r>
            <a:r>
              <a:rPr lang="en-US" b="1" dirty="0">
                <a:latin typeface="RoMAN"/>
              </a:rPr>
              <a:t>HTML, CSS, JavaScript, and Chart.js</a:t>
            </a:r>
            <a:r>
              <a:rPr lang="en-US" dirty="0">
                <a:latin typeface="RoMAN"/>
              </a:rPr>
              <a:t>.</a:t>
            </a:r>
          </a:p>
          <a:p>
            <a:r>
              <a:rPr lang="en-US" dirty="0">
                <a:latin typeface="RoMAN"/>
              </a:rPr>
              <a:t>The system integrates multiple banking utilities including loan analysis, EMI calculation, payment simulation, and financial tools.</a:t>
            </a:r>
          </a:p>
          <a:p>
            <a:r>
              <a:rPr lang="en-US" dirty="0">
                <a:latin typeface="RoMAN"/>
              </a:rPr>
              <a:t>This project helps users understand </a:t>
            </a:r>
            <a:r>
              <a:rPr lang="en-US" b="1" dirty="0">
                <a:latin typeface="RoMAN"/>
              </a:rPr>
              <a:t>modern digital banking systems and financial decision making</a:t>
            </a:r>
            <a:r>
              <a:rPr lang="en-US" dirty="0">
                <a:latin typeface="RoMAN"/>
              </a:rPr>
              <a:t> through an interactive and user-friendly interface.</a:t>
            </a:r>
          </a:p>
          <a:p>
            <a:pPr marL="0" indent="0">
              <a:buNone/>
            </a:pPr>
            <a:endParaRPr lang="en-US" dirty="0"/>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2858912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t>Geo- Tag Photos</a:t>
            </a:r>
          </a:p>
        </p:txBody>
      </p:sp>
      <p:pic>
        <p:nvPicPr>
          <p:cNvPr id="8" name="Content Placeholder 7">
            <a:extLst>
              <a:ext uri="{FF2B5EF4-FFF2-40B4-BE49-F238E27FC236}">
                <a16:creationId xmlns:a16="http://schemas.microsoft.com/office/drawing/2014/main" id="{E23C7955-93EF-6883-5A92-4EDD56574D36}"/>
              </a:ext>
            </a:extLst>
          </p:cNvPr>
          <p:cNvPicPr>
            <a:picLocks noGrp="1" noChangeAspect="1"/>
          </p:cNvPicPr>
          <p:nvPr>
            <p:ph idx="1"/>
          </p:nvPr>
        </p:nvPicPr>
        <p:blipFill>
          <a:blip r:embed="rId2"/>
          <a:stretch>
            <a:fillRect/>
          </a:stretch>
        </p:blipFill>
        <p:spPr>
          <a:xfrm>
            <a:off x="975982" y="1825625"/>
            <a:ext cx="3263503" cy="4351338"/>
          </a:xfrm>
          <a:prstGeom prst="rect">
            <a:avLst/>
          </a:prstGeom>
        </p:spPr>
      </p:pic>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2357471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13</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3729</TotalTime>
  <Words>915</Words>
  <Application>Microsoft Office PowerPoint</Application>
  <PresentationFormat>Widescreen</PresentationFormat>
  <Paragraphs>134</Paragraphs>
  <Slides>13</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Arial</vt:lpstr>
      <vt:lpstr>Calibri</vt:lpstr>
      <vt:lpstr>Calibri Light</vt:lpstr>
      <vt:lpstr>RoMAN</vt:lpstr>
      <vt:lpstr>Office Theme</vt:lpstr>
      <vt:lpstr>Custom Design</vt:lpstr>
      <vt:lpstr>Title: </vt:lpstr>
      <vt:lpstr>Abstract</vt:lpstr>
      <vt:lpstr>Existing System </vt:lpstr>
      <vt:lpstr>Proposed System</vt:lpstr>
      <vt:lpstr>System Architecture</vt:lpstr>
      <vt:lpstr>Project Modules</vt:lpstr>
      <vt:lpstr>Objectives</vt:lpstr>
      <vt:lpstr>Co’s Attainments - FWD</vt:lpstr>
      <vt:lpstr>Screenshots for FWD </vt:lpstr>
      <vt:lpstr>PowerPoint Presentation</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rikki pravalika</cp:lastModifiedBy>
  <cp:revision>52</cp:revision>
  <dcterms:created xsi:type="dcterms:W3CDTF">2022-05-20T10:20:31Z</dcterms:created>
  <dcterms:modified xsi:type="dcterms:W3CDTF">2026-03-10T03:18:13Z</dcterms:modified>
</cp:coreProperties>
</file>